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5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958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5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521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197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324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04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028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501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60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94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4853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809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7933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616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349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667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E3C03-A289-4923-9263-CF41E3FCC2F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0F015E5-6B8E-4E93-9156-3DBE147FF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94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ctc.co.in/nget/train-search" TargetMode="External"/><Relationship Id="rId2" Type="http://schemas.openxmlformats.org/officeDocument/2006/relationships/hyperlink" Target="https://www.geeksforgeeks.org/c/c-programming-language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DF4A-DF48-D185-A882-E6C784083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361" y="196645"/>
            <a:ext cx="8005642" cy="1096899"/>
          </a:xfrm>
        </p:spPr>
        <p:txBody>
          <a:bodyPr/>
          <a:lstStyle/>
          <a:p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/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TICKET RESERVATION SYSTEM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3BAB5-E4EC-E604-863C-D9BF5B6F2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348" y="1818968"/>
            <a:ext cx="7887655" cy="447367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200" b="1" dirty="0">
                <a:solidFill>
                  <a:schemeClr val="tx2">
                    <a:lumMod val="50000"/>
                  </a:schemeClr>
                </a:solidFill>
              </a:rPr>
              <a:t>C Programming Project Report</a:t>
            </a:r>
            <a:endParaRPr lang="en-IN" sz="2200" b="1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 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Course Code: 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CSEG1041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School of Computer Science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University of Petroleum and Energy Studies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 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Submitted By: Shorya Verma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SAP ID: 590027164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Instructor: Dr. Prashant Trivedi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Date: December 01,2025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  <a:p>
            <a:br>
              <a:rPr lang="en-US" dirty="0"/>
            </a:b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1976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172B9-B94C-CBE0-2721-E4DF9461B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8" y="216311"/>
            <a:ext cx="11042717" cy="1002889"/>
          </a:xfrm>
        </p:spPr>
        <p:txBody>
          <a:bodyPr/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EB79C-6E31-A406-DF95-7A64A116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183" y="1496654"/>
            <a:ext cx="10837329" cy="4913978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Train Ticket Reservation System is a console-based application developed in C  programming language that simulates  a real-world.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Railway reservation system . The system manages passengers booking, maintains confirmed and waiting lists, handles cancellation with automatic promotion from waiting list, and generates detailed ticket with completes train information. 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project demonstrates the practical application of fundamental C programming concepts including structures, arrays, enumeration &amp; Modular Programming.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system provides an efficient solution for managing limited seat availability while maintaining data integrity and user-friendly interaction.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7984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7E1A-5D3E-43BC-9033-400A641E9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011" y="1248696"/>
            <a:ext cx="8596668" cy="77674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Key Features:</a:t>
            </a:r>
            <a:br>
              <a:rPr lang="en-IN" dirty="0">
                <a:solidFill>
                  <a:schemeClr val="bg2">
                    <a:lumMod val="1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BA72-F664-62C9-5195-309BF12A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Seat availability checking with real-time updates</a:t>
            </a: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  <a:p>
            <a:pPr lvl="0"/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Automatic waiting list management</a:t>
            </a: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  <a:p>
            <a:pPr lvl="0"/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Unique PNR generation</a:t>
            </a: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  <a:p>
            <a:pPr lvl="0"/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Detailed Ticket printing with ticket information</a:t>
            </a: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  <a:p>
            <a:pPr lvl="0"/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Automatic promotion from waiting list upon cancellation</a:t>
            </a: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  <a:p>
            <a:pPr lvl="0"/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Input validation </a:t>
            </a: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15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2EE2-C9DC-7B35-D44B-B98311C9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6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PROBLEM DEFINITION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54E64-1157-3A0A-CCEE-71B712053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4" y="1258529"/>
            <a:ext cx="9684774" cy="5530644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The challenge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Railways system needs to: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limited seating capacity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Handle multiple booking requests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Maintain accurate waiting lists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Process cancellations efficiently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Generates unique booking identifiers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system that: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Allocates seats intelligently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Manages FIFO waiting list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Auto promotes on cancellation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Stores complete train &amp; passenger info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65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D9424-3DE6-DF8F-0F21-C11D8A3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3768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SYSTEM DESIGN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A4FE4-6584-2C0F-E0AF-C1D5B43E3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122947"/>
            <a:ext cx="10391719" cy="5735053"/>
          </a:xfrm>
        </p:spPr>
        <p:txBody>
          <a:bodyPr>
            <a:normAutofit/>
          </a:bodyPr>
          <a:lstStyle/>
          <a:p>
            <a:r>
              <a:rPr lang="en-US" dirty="0"/>
              <a:t>Enumeration</a:t>
            </a:r>
          </a:p>
          <a:p>
            <a:pPr>
              <a:lnSpc>
                <a:spcPts val="1425"/>
              </a:lnSpc>
              <a:buNone/>
            </a:pPr>
            <a:r>
              <a:rPr lang="en-IN" dirty="0" err="1">
                <a:solidFill>
                  <a:srgbClr val="569CD6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enum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Status { CONFIRMED, </a:t>
            </a:r>
            <a:r>
              <a:rPr lang="en-IN" b="0" dirty="0" err="1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wAITING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};</a:t>
            </a:r>
            <a:endParaRPr lang="en-US" dirty="0"/>
          </a:p>
          <a:p>
            <a:r>
              <a:rPr lang="en-US" dirty="0"/>
              <a:t>Train Structure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train_number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train_name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];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date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15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} Train;</a:t>
            </a:r>
            <a:endParaRPr lang="en-US" dirty="0"/>
          </a:p>
          <a:p>
            <a:r>
              <a:rPr lang="en-US" dirty="0"/>
              <a:t>Passenger Structure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85F359-2D92-B646-E522-C7EB71B7052C}"/>
              </a:ext>
            </a:extLst>
          </p:cNvPr>
          <p:cNvSpPr txBox="1"/>
          <p:nvPr/>
        </p:nvSpPr>
        <p:spPr>
          <a:xfrm>
            <a:off x="897193" y="4894379"/>
            <a:ext cx="6100916" cy="118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typedef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struct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pnr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char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50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enum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Status </a:t>
            </a:r>
            <a:r>
              <a:rPr lang="en-IN" b="0" dirty="0" err="1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status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Train </a:t>
            </a:r>
            <a:r>
              <a:rPr lang="en-IN" b="0" dirty="0" err="1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train_info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} Passenger;</a:t>
            </a:r>
          </a:p>
        </p:txBody>
      </p:sp>
    </p:spTree>
    <p:extLst>
      <p:ext uri="{BB962C8B-B14F-4D97-AF65-F5344CB8AC3E}">
        <p14:creationId xmlns:p14="http://schemas.microsoft.com/office/powerpoint/2010/main" val="71220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39EA92-F2D7-C247-11A8-B57DDEF1B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463" y="309593"/>
            <a:ext cx="5743074" cy="6396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51E55A-876B-D61B-2AB6-6D806B123968}"/>
              </a:ext>
            </a:extLst>
          </p:cNvPr>
          <p:cNvSpPr txBox="1"/>
          <p:nvPr/>
        </p:nvSpPr>
        <p:spPr>
          <a:xfrm>
            <a:off x="808703" y="463418"/>
            <a:ext cx="624102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362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17E918-33D8-FC6E-6C78-94F678050537}"/>
              </a:ext>
            </a:extLst>
          </p:cNvPr>
          <p:cNvSpPr txBox="1"/>
          <p:nvPr/>
        </p:nvSpPr>
        <p:spPr>
          <a:xfrm>
            <a:off x="752354" y="740779"/>
            <a:ext cx="8174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Main Algorithm</a:t>
            </a:r>
            <a:endParaRPr lang="en-IN" sz="2800" dirty="0">
              <a:solidFill>
                <a:schemeClr val="accent1"/>
              </a:solidFill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6F958BA-2A60-24E6-EADD-1125BAF150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652410"/>
              </p:ext>
            </p:extLst>
          </p:nvPr>
        </p:nvGraphicFramePr>
        <p:xfrm>
          <a:off x="464214" y="1410745"/>
          <a:ext cx="7024606" cy="5401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28906" imgH="4405147" progId="Word.Document.12">
                  <p:embed/>
                </p:oleObj>
              </mc:Choice>
              <mc:Fallback>
                <p:oleObj name="Document" r:id="rId2" imgW="5728906" imgH="44051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4214" y="1410745"/>
                        <a:ext cx="7024606" cy="5401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5886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7207-DC3D-8099-6FEE-C14DBDC43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100" y="609600"/>
            <a:ext cx="8405901" cy="675190"/>
          </a:xfrm>
        </p:spPr>
        <p:txBody>
          <a:bodyPr/>
          <a:lstStyle/>
          <a:p>
            <a:r>
              <a:rPr lang="en-US" dirty="0"/>
              <a:t> Algorithms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B906B-C0DE-2BEE-6700-813E45D8C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263" y="1661912"/>
            <a:ext cx="4791919" cy="493565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Booking Algorithm</a:t>
            </a:r>
          </a:p>
          <a:p>
            <a:pPr marL="0" indent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           1.Generate new PNR</a:t>
            </a:r>
          </a:p>
          <a:p>
            <a:pPr marL="0" marR="0" indent="0" algn="l" rtl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           2.       Get passenger name</a:t>
            </a:r>
          </a:p>
          <a:p>
            <a:pPr marL="0" marR="0" indent="0" algn="l" rtl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           3.Get train details (number, name, from, to, date)</a:t>
            </a:r>
          </a:p>
          <a:p>
            <a:pPr marL="0" marR="0" indent="0" algn="l" rtl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               IF confirmed seats available THEN</a:t>
            </a:r>
          </a:p>
          <a:p>
            <a:pPr marR="0" lvl="2" algn="l" rtl="0">
              <a:buFont typeface="Times New Roman" panose="02020603050405020304" pitchFamily="18" charset="0"/>
              <a:buChar char="-"/>
            </a:pP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Add to confirmed list</a:t>
            </a:r>
          </a:p>
          <a:p>
            <a:pPr marL="0" marR="0" indent="0" algn="l" rtl="0">
              <a:buNone/>
            </a:pPr>
            <a:r>
              <a:rPr lang="en-US" sz="1400" kern="100" dirty="0">
                <a:latin typeface="Times New Roman" panose="02020603050405020304" pitchFamily="18" charset="0"/>
              </a:rPr>
              <a:t>                         -       </a:t>
            </a: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Increment </a:t>
            </a:r>
            <a:r>
              <a:rPr lang="en-US" sz="1400" b="0" i="0" u="none" strike="noStrike" kern="100" baseline="0" dirty="0" err="1">
                <a:latin typeface="Times New Roman" panose="02020603050405020304" pitchFamily="18" charset="0"/>
              </a:rPr>
              <a:t>confirmedCount</a:t>
            </a: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 </a:t>
            </a:r>
          </a:p>
          <a:p>
            <a:pPr marL="0" marR="0" indent="0" algn="l" rtl="0">
              <a:buNone/>
            </a:pP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                         -        Display “confirmed” message</a:t>
            </a:r>
          </a:p>
          <a:p>
            <a:pPr marR="0" algn="l" rtl="0"/>
            <a:endParaRPr lang="en-US" sz="1600" b="0" i="0" u="none" strike="noStrike" kern="100" baseline="0" dirty="0">
              <a:latin typeface="Times New Roman" panose="02020603050405020304" pitchFamily="18" charset="0"/>
            </a:endParaRPr>
          </a:p>
          <a:p>
            <a:pPr marL="457200" marR="0" lvl="1" indent="0" algn="l" rtl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  5. ELSE IF waiting list available THEN</a:t>
            </a:r>
          </a:p>
          <a:p>
            <a:pPr marR="0" lvl="2" algn="l" rtl="0">
              <a:buFont typeface="Times New Roman" panose="02020603050405020304" pitchFamily="18" charset="0"/>
              <a:buChar char="-"/>
            </a:pP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Add to waiting list</a:t>
            </a:r>
          </a:p>
          <a:p>
            <a:pPr marL="0" marR="0" indent="0" algn="l" rtl="0">
              <a:buNone/>
            </a:pP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                         -     Increment </a:t>
            </a:r>
            <a:r>
              <a:rPr lang="en-US" sz="1400" b="0" i="0" u="none" strike="noStrike" kern="100" baseline="0" dirty="0" err="1">
                <a:latin typeface="Times New Roman" panose="02020603050405020304" pitchFamily="18" charset="0"/>
              </a:rPr>
              <a:t>waitingCount</a:t>
            </a:r>
            <a:endParaRPr lang="en-US" sz="1400" b="0" i="0" u="none" strike="noStrike" kern="100" baseline="0" dirty="0">
              <a:latin typeface="Times New Roman" panose="02020603050405020304" pitchFamily="18" charset="0"/>
            </a:endParaRPr>
          </a:p>
          <a:p>
            <a:pPr marL="0" marR="0" indent="0" algn="l" rtl="0">
              <a:buNone/>
            </a:pP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                          -     Display “Waiting” message</a:t>
            </a:r>
            <a:endParaRPr lang="en-US" sz="1600" b="0" i="0" u="none" strike="noStrike" kern="100" baseline="0" dirty="0">
              <a:latin typeface="Times New Roman" panose="02020603050405020304" pitchFamily="18" charset="0"/>
            </a:endParaRPr>
          </a:p>
          <a:p>
            <a:pPr marL="457200" marR="0" lvl="1" indent="0" algn="l" rtl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    6.ELSE</a:t>
            </a:r>
          </a:p>
          <a:p>
            <a:pPr marR="0" lvl="2" algn="l" rtl="0">
              <a:buFont typeface="Times New Roman" panose="02020603050405020304" pitchFamily="18" charset="0"/>
              <a:buChar char="-"/>
            </a:pP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Display “No seat available”</a:t>
            </a:r>
          </a:p>
          <a:p>
            <a:pPr marL="457200" marR="0" lvl="1" indent="0" algn="l" rtl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     7.Display PNR number</a:t>
            </a:r>
          </a:p>
          <a:p>
            <a:pPr marL="0" marR="0" indent="0" algn="l" rtl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           END FUNCTION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EA7A7-7E74-9205-F273-727E6A763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20182" y="1661912"/>
            <a:ext cx="5431417" cy="502825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Cancellation Algorithm</a:t>
            </a:r>
          </a:p>
          <a:p>
            <a:pPr marL="457200" marR="0" lvl="1" indent="0" algn="l" rtl="0">
              <a:buNone/>
            </a:pPr>
            <a:r>
              <a:rPr lang="en-US" sz="1800" b="0" i="0" u="none" strike="noStrike" kern="100" baseline="0" dirty="0">
                <a:latin typeface="Times New Roman" panose="02020603050405020304" pitchFamily="18" charset="0"/>
              </a:rPr>
              <a:t>Search for PNR in confirmed list</a:t>
            </a:r>
          </a:p>
          <a:p>
            <a:pPr marL="0" marR="0" indent="0" algn="l" rtl="0">
              <a:buNone/>
            </a:pPr>
            <a:r>
              <a:rPr lang="en-US" sz="1800" b="0" i="0" u="none" strike="noStrike" kern="100" baseline="0" dirty="0">
                <a:latin typeface="Times New Roman" panose="02020603050405020304" pitchFamily="18" charset="0"/>
              </a:rPr>
              <a:t>          IF found</a:t>
            </a:r>
          </a:p>
          <a:p>
            <a:pPr marL="914400" marR="0" lvl="2" indent="0" algn="l" rtl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-   Remove passenger from confirmed list </a:t>
            </a:r>
          </a:p>
          <a:p>
            <a:pPr marL="0" marR="0" indent="0" algn="l" rtl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                     -   Shift remaining passengers forward </a:t>
            </a:r>
          </a:p>
          <a:p>
            <a:pPr marL="0" marR="0" indent="0" algn="l" rtl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                     -  Decrement </a:t>
            </a:r>
            <a:r>
              <a:rPr lang="en-US" sz="1600" b="0" i="0" u="none" strike="noStrike" kern="100" baseline="0" dirty="0" err="1">
                <a:latin typeface="Times New Roman" panose="02020603050405020304" pitchFamily="18" charset="0"/>
              </a:rPr>
              <a:t>confirmedCount</a:t>
            </a:r>
            <a:endParaRPr lang="en-US" sz="1600" kern="100" dirty="0">
              <a:latin typeface="Times New Roman" panose="02020603050405020304" pitchFamily="18" charset="0"/>
            </a:endParaRPr>
          </a:p>
          <a:p>
            <a:pPr marL="0" marR="0" indent="0" algn="l" rtl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                     -   If waiting list not empty THEN </a:t>
            </a:r>
          </a:p>
          <a:p>
            <a:pPr marL="914400" marR="0" lvl="2" indent="0" algn="l" rtl="0">
              <a:buNone/>
            </a:pP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            *  Move first waiting passenger to confirmed list</a:t>
            </a:r>
          </a:p>
          <a:p>
            <a:pPr marL="0" marR="0" indent="0" algn="l" rtl="0">
              <a:buNone/>
            </a:pP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                                    * Update status to CONFIRMED</a:t>
            </a:r>
          </a:p>
          <a:p>
            <a:pPr marL="0" marR="0" indent="0" algn="l" rtl="0">
              <a:buNone/>
            </a:pP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                                    * Shift remaining waiting passengers </a:t>
            </a:r>
          </a:p>
          <a:p>
            <a:pPr marL="0" marR="0" indent="0" algn="l" rtl="0">
              <a:buNone/>
            </a:pP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                                    * Decrement </a:t>
            </a:r>
            <a:r>
              <a:rPr lang="en-US" sz="1400" b="0" i="0" u="none" strike="noStrike" kern="100" baseline="0" dirty="0" err="1">
                <a:latin typeface="Times New Roman" panose="02020603050405020304" pitchFamily="18" charset="0"/>
              </a:rPr>
              <a:t>waitingCount</a:t>
            </a: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 </a:t>
            </a:r>
          </a:p>
          <a:p>
            <a:pPr marL="0" marR="0" indent="0" algn="l" rtl="0">
              <a:buNone/>
            </a:pPr>
            <a:r>
              <a:rPr lang="en-US" sz="1400" b="0" i="0" u="none" strike="noStrike" kern="100" baseline="0" dirty="0">
                <a:latin typeface="Times New Roman" panose="02020603050405020304" pitchFamily="18" charset="0"/>
              </a:rPr>
              <a:t>                                    *  Display promotion message</a:t>
            </a:r>
          </a:p>
          <a:p>
            <a:pPr marR="0" lvl="2" algn="l" rtl="0">
              <a:buFont typeface="Times New Roman" panose="02020603050405020304" pitchFamily="18" charset="0"/>
              <a:buChar char="-"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END IF</a:t>
            </a:r>
          </a:p>
          <a:p>
            <a:pPr marL="457200" marR="0" lvl="1" indent="0" algn="l" rtl="0">
              <a:buNone/>
            </a:pPr>
            <a:r>
              <a:rPr lang="en-US" sz="1800" b="0" i="0" u="none" strike="noStrike" kern="100" baseline="0" dirty="0">
                <a:latin typeface="Times New Roman" panose="02020603050405020304" pitchFamily="18" charset="0"/>
              </a:rPr>
              <a:t> ELSE</a:t>
            </a:r>
          </a:p>
          <a:p>
            <a:pPr marR="0" lvl="2" algn="l" rtl="0">
              <a:buFont typeface="Times New Roman" panose="02020603050405020304" pitchFamily="18" charset="0"/>
              <a:buChar char="-"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Display “PNR” not found</a:t>
            </a:r>
          </a:p>
          <a:p>
            <a:pPr marL="0" marR="0" indent="0" algn="l" rtl="0">
              <a:buNone/>
            </a:pPr>
            <a:r>
              <a:rPr lang="en-US" sz="1600" b="0" i="0" u="none" strike="noStrike" kern="100" baseline="0" dirty="0">
                <a:latin typeface="Times New Roman" panose="02020603050405020304" pitchFamily="18" charset="0"/>
              </a:rPr>
              <a:t>          END FUNCTION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263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0C09B-1068-AE98-C008-26035771C89E}"/>
              </a:ext>
            </a:extLst>
          </p:cNvPr>
          <p:cNvSpPr txBox="1"/>
          <p:nvPr/>
        </p:nvSpPr>
        <p:spPr>
          <a:xfrm>
            <a:off x="741680" y="104894"/>
            <a:ext cx="60020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Implementation</a:t>
            </a:r>
            <a:endParaRPr lang="en-IN" sz="3200" dirty="0">
              <a:solidFill>
                <a:schemeClr val="accent1"/>
              </a:solidFill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37B32C6-F3B0-A396-9183-9369DA9263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98616"/>
              </p:ext>
            </p:extLst>
          </p:nvPr>
        </p:nvGraphicFramePr>
        <p:xfrm>
          <a:off x="703220" y="812800"/>
          <a:ext cx="5108300" cy="6253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28906" imgH="8849950" progId="Word.Document.12">
                  <p:embed/>
                </p:oleObj>
              </mc:Choice>
              <mc:Fallback>
                <p:oleObj name="Document" r:id="rId2" imgW="5728906" imgH="88499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3220" y="812800"/>
                        <a:ext cx="5108300" cy="6253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524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E510-9F15-45BC-6AA9-5819B4FDE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8766002" cy="599440"/>
          </a:xfrm>
        </p:spPr>
        <p:txBody>
          <a:bodyPr>
            <a:normAutofit fontScale="90000"/>
          </a:bodyPr>
          <a:lstStyle/>
          <a:p>
            <a:r>
              <a:rPr lang="en-US" dirty="0"/>
              <a:t>.Functions and its purpose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3425A58-BBFD-F36F-5212-32274369F7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9476596"/>
              </p:ext>
            </p:extLst>
          </p:nvPr>
        </p:nvGraphicFramePr>
        <p:xfrm>
          <a:off x="772160" y="1666240"/>
          <a:ext cx="8502015" cy="3830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2277">
                  <a:extLst>
                    <a:ext uri="{9D8B030D-6E8A-4147-A177-3AD203B41FA5}">
                      <a16:colId xmlns:a16="http://schemas.microsoft.com/office/drawing/2014/main" val="3804642949"/>
                    </a:ext>
                  </a:extLst>
                </a:gridCol>
                <a:gridCol w="4719738">
                  <a:extLst>
                    <a:ext uri="{9D8B030D-6E8A-4147-A177-3AD203B41FA5}">
                      <a16:colId xmlns:a16="http://schemas.microsoft.com/office/drawing/2014/main" val="1327607063"/>
                    </a:ext>
                  </a:extLst>
                </a:gridCol>
              </a:tblGrid>
              <a:tr h="547188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267628"/>
                  </a:ext>
                </a:extLst>
              </a:tr>
              <a:tr h="547188">
                <a:tc>
                  <a:txBody>
                    <a:bodyPr/>
                    <a:lstStyle/>
                    <a:p>
                      <a:r>
                        <a:rPr lang="en-US" dirty="0" err="1"/>
                        <a:t>gentrate_pnr</a:t>
                      </a:r>
                      <a:r>
                        <a:rPr lang="en-US" dirty="0"/>
                        <a:t>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 err="1"/>
                        <a:t>Genrate</a:t>
                      </a:r>
                      <a:r>
                        <a:rPr lang="en-US" dirty="0"/>
                        <a:t> unique 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046563"/>
                  </a:ext>
                </a:extLst>
              </a:tr>
              <a:tr h="547188">
                <a:tc>
                  <a:txBody>
                    <a:bodyPr/>
                    <a:lstStyle/>
                    <a:p>
                      <a:r>
                        <a:rPr lang="en-US" dirty="0" err="1"/>
                        <a:t>SeatsAvailable</a:t>
                      </a:r>
                      <a:r>
                        <a:rPr lang="en-US" dirty="0"/>
                        <a:t>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 capacity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759352"/>
                  </a:ext>
                </a:extLst>
              </a:tr>
              <a:tr h="547188">
                <a:tc>
                  <a:txBody>
                    <a:bodyPr/>
                    <a:lstStyle/>
                    <a:p>
                      <a:r>
                        <a:rPr lang="en-US" dirty="0" err="1"/>
                        <a:t>Train_details</a:t>
                      </a:r>
                      <a:r>
                        <a:rPr lang="en-US" dirty="0"/>
                        <a:t>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train info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394913"/>
                  </a:ext>
                </a:extLst>
              </a:tr>
              <a:tr h="547188">
                <a:tc>
                  <a:txBody>
                    <a:bodyPr/>
                    <a:lstStyle/>
                    <a:p>
                      <a:r>
                        <a:rPr lang="en-US" dirty="0" err="1"/>
                        <a:t>Book_Tickect</a:t>
                      </a:r>
                      <a:r>
                        <a:rPr lang="en-US" dirty="0"/>
                        <a:t>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Book ticket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184093"/>
                  </a:ext>
                </a:extLst>
              </a:tr>
              <a:tr h="547188">
                <a:tc>
                  <a:txBody>
                    <a:bodyPr/>
                    <a:lstStyle/>
                    <a:p>
                      <a:r>
                        <a:rPr lang="en-US" dirty="0" err="1"/>
                        <a:t>printfTicket</a:t>
                      </a:r>
                      <a:r>
                        <a:rPr lang="en-US" dirty="0"/>
                        <a:t>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Ticket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001871"/>
                  </a:ext>
                </a:extLst>
              </a:tr>
              <a:tr h="547188">
                <a:tc>
                  <a:txBody>
                    <a:bodyPr/>
                    <a:lstStyle/>
                    <a:p>
                      <a:r>
                        <a:rPr lang="en-US" dirty="0" err="1"/>
                        <a:t>CancelTicket</a:t>
                      </a:r>
                      <a:r>
                        <a:rPr lang="en-US" dirty="0"/>
                        <a:t>()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Cancel &amp; promote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916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537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C2763-F5C7-170B-9689-3844A0964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94" y="233680"/>
            <a:ext cx="8596668" cy="386080"/>
          </a:xfrm>
        </p:spPr>
        <p:txBody>
          <a:bodyPr>
            <a:normAutofit fontScale="90000"/>
          </a:bodyPr>
          <a:lstStyle/>
          <a:p>
            <a:r>
              <a:rPr lang="en-US" dirty="0"/>
              <a:t>Technical Challenges &amp;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F4403-729D-6815-AC53-B6BF536AC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494" y="822960"/>
            <a:ext cx="8840508" cy="6035039"/>
          </a:xfrm>
        </p:spPr>
        <p:txBody>
          <a:bodyPr>
            <a:normAutofit/>
          </a:bodyPr>
          <a:lstStyle/>
          <a:p>
            <a:r>
              <a:rPr lang="en-US" dirty="0"/>
              <a:t>Challenge 1: Buffer Management </a:t>
            </a:r>
          </a:p>
          <a:p>
            <a:endParaRPr lang="en-US" dirty="0"/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DCDCAA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   </a:t>
            </a:r>
            <a:r>
              <a:rPr lang="en-IN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printf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"Enter Train Number: "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scanf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%d</a:t>
            </a:r>
            <a:r>
              <a:rPr lang="en-IN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&amp;</a:t>
            </a:r>
            <a:r>
              <a:rPr lang="en-IN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train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-&gt;</a:t>
            </a:r>
            <a:r>
              <a:rPr lang="en-IN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train_number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getchar</a:t>
            </a:r>
            <a:r>
              <a:rPr lang="en-IN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dirty="0"/>
              <a:t> Problem: </a:t>
            </a:r>
            <a:r>
              <a:rPr lang="en-US" dirty="0" err="1"/>
              <a:t>scanf</a:t>
            </a:r>
            <a:r>
              <a:rPr lang="en-US" dirty="0"/>
              <a:t>() leaves newline in buffer</a:t>
            </a:r>
          </a:p>
          <a:p>
            <a:pPr marL="0" indent="0">
              <a:buNone/>
            </a:pPr>
            <a:r>
              <a:rPr lang="en-US" dirty="0"/>
              <a:t>      Solution: Strategic use of </a:t>
            </a:r>
            <a:r>
              <a:rPr lang="en-US" dirty="0" err="1"/>
              <a:t>getchar</a:t>
            </a:r>
            <a:r>
              <a:rPr lang="en-US" dirty="0"/>
              <a:t>() after numeric inputs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Challenge 2: Array shifting </a:t>
            </a:r>
          </a:p>
          <a:p>
            <a:pPr>
              <a:lnSpc>
                <a:spcPts val="1425"/>
              </a:lnSpc>
              <a:buNone/>
            </a:pPr>
            <a:r>
              <a:rPr lang="en-US" dirty="0"/>
              <a:t>     </a:t>
            </a:r>
            <a:r>
              <a:rPr lang="en-US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j 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; j 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confirmedCount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j</a:t>
            </a:r>
            <a:r>
              <a:rPr lang="en-US" b="0" dirty="0" err="1">
                <a:solidFill>
                  <a:srgbClr val="D4D4D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){</a:t>
            </a:r>
            <a:r>
              <a:rPr lang="en-US" b="0" dirty="0">
                <a:solidFill>
                  <a:srgbClr val="6A9955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 </a:t>
            </a:r>
            <a:endParaRPr lang="en-US" b="0" dirty="0">
              <a:solidFill>
                <a:srgbClr val="CCCCCC"/>
              </a:solidFill>
              <a:effectLst/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       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confirmed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[j] 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confirmed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[j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Problem: Removing elements while maintain order</a:t>
            </a:r>
          </a:p>
          <a:p>
            <a:pPr marL="0" indent="0">
              <a:buNone/>
            </a:pPr>
            <a:r>
              <a:rPr lang="en-US" dirty="0"/>
              <a:t>      Solution: Manual shifting with loop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676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3D31D-8E44-106E-A8DC-602782DF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863" y="409080"/>
            <a:ext cx="8220707" cy="146505"/>
          </a:xfrm>
        </p:spPr>
        <p:txBody>
          <a:bodyPr>
            <a:normAutofit fontScale="90000"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CFC4B-9E1A-439D-68F3-FA35A2940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2354" y="1400537"/>
            <a:ext cx="8521649" cy="398731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Challenge 3: String Input with spaces</a:t>
            </a:r>
          </a:p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lnSpc>
                <a:spcPts val="1425"/>
              </a:lnSpc>
              <a:buNone/>
            </a:pPr>
            <a:r>
              <a:rPr lang="fr-FR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fgets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train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-&gt;</a:t>
            </a:r>
            <a:r>
              <a:rPr lang="fr-FR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train_name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, </a:t>
            </a:r>
            <a:r>
              <a:rPr lang="fr-FR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50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, </a:t>
            </a:r>
            <a:r>
              <a:rPr lang="fr-FR" b="0" dirty="0" err="1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stdin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fr-FR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train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-&gt;</a:t>
            </a:r>
            <a:r>
              <a:rPr lang="fr-FR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train_name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[</a:t>
            </a:r>
            <a:r>
              <a:rPr lang="fr-FR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strcspn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</a:t>
            </a:r>
            <a:r>
              <a:rPr lang="fr-FR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train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-&gt;</a:t>
            </a:r>
            <a:r>
              <a:rPr lang="fr-FR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train_name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, </a:t>
            </a:r>
            <a:r>
              <a:rPr lang="fr-FR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D7BA7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\n</a:t>
            </a:r>
            <a:r>
              <a:rPr lang="fr-FR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"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)] </a:t>
            </a:r>
            <a:r>
              <a:rPr lang="fr-FR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=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0</a:t>
            </a:r>
            <a:r>
              <a:rPr lang="fr-FR" b="0" dirty="0">
                <a:solidFill>
                  <a:srgbClr val="CCCCCC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     Problem: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scanf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() stops at Whitespaces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     Solution: Uses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fgets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() +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strcspn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() for cleaning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5559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F689-5761-4E79-8262-14C2A1DCB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52" y="609601"/>
            <a:ext cx="8475349" cy="571018"/>
          </a:xfrm>
        </p:spPr>
        <p:txBody>
          <a:bodyPr>
            <a:normAutofit fontScale="90000"/>
          </a:bodyPr>
          <a:lstStyle/>
          <a:p>
            <a:r>
              <a:rPr lang="en-US" dirty="0"/>
              <a:t>Testing &amp; Validation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FDF2DA-9755-2D95-4B86-E15BAC9F91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072141"/>
              </p:ext>
            </p:extLst>
          </p:nvPr>
        </p:nvGraphicFramePr>
        <p:xfrm>
          <a:off x="520861" y="1307939"/>
          <a:ext cx="7905081" cy="4851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198">
                  <a:extLst>
                    <a:ext uri="{9D8B030D-6E8A-4147-A177-3AD203B41FA5}">
                      <a16:colId xmlns:a16="http://schemas.microsoft.com/office/drawing/2014/main" val="789396179"/>
                    </a:ext>
                  </a:extLst>
                </a:gridCol>
                <a:gridCol w="3343127">
                  <a:extLst>
                    <a:ext uri="{9D8B030D-6E8A-4147-A177-3AD203B41FA5}">
                      <a16:colId xmlns:a16="http://schemas.microsoft.com/office/drawing/2014/main" val="87774532"/>
                    </a:ext>
                  </a:extLst>
                </a:gridCol>
                <a:gridCol w="2863756">
                  <a:extLst>
                    <a:ext uri="{9D8B030D-6E8A-4147-A177-3AD203B41FA5}">
                      <a16:colId xmlns:a16="http://schemas.microsoft.com/office/drawing/2014/main" val="548400981"/>
                    </a:ext>
                  </a:extLst>
                </a:gridCol>
              </a:tblGrid>
              <a:tr h="659757">
                <a:tc>
                  <a:txBody>
                    <a:bodyPr/>
                    <a:lstStyle/>
                    <a:p>
                      <a:r>
                        <a:rPr lang="en-US" sz="2400" dirty="0"/>
                        <a:t> Test Case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Scenario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Result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209273"/>
                  </a:ext>
                </a:extLst>
              </a:tr>
              <a:tr h="686213">
                <a:tc>
                  <a:txBody>
                    <a:bodyPr/>
                    <a:lstStyle/>
                    <a:p>
                      <a:r>
                        <a:rPr lang="en-US" sz="2000" dirty="0"/>
                        <a:t> TC-1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sz="2400" dirty="0"/>
                        <a:t>Normal booking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PASS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335616"/>
                  </a:ext>
                </a:extLst>
              </a:tr>
              <a:tr h="68621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 TC-2</a:t>
                      </a:r>
                      <a:endParaRPr lang="en-IN" sz="2000" dirty="0"/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Full Capacity -&gt; Waiting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PASS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439449"/>
                  </a:ext>
                </a:extLst>
              </a:tr>
              <a:tr h="68621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 TC-3</a:t>
                      </a:r>
                      <a:endParaRPr lang="en-IN" sz="2000" dirty="0"/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Complete Full (Reject)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PASS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577331"/>
                  </a:ext>
                </a:extLst>
              </a:tr>
              <a:tr h="68621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 TC-4</a:t>
                      </a:r>
                      <a:endParaRPr lang="en-IN" sz="2000" dirty="0"/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Print valid ticket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PASS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812987"/>
                  </a:ext>
                </a:extLst>
              </a:tr>
              <a:tr h="68621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 TC-5 </a:t>
                      </a:r>
                      <a:endParaRPr lang="en-IN" sz="2000" dirty="0"/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Cancellation + promotion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PASS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178390"/>
                  </a:ext>
                </a:extLst>
              </a:tr>
              <a:tr h="68621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 TC-6 </a:t>
                      </a:r>
                      <a:endParaRPr lang="en-IN" sz="2000" dirty="0"/>
                    </a:p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Invalid PNR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PASS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557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742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68D8-684F-79EA-E6A9-EE78116F9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62" y="196770"/>
            <a:ext cx="8799440" cy="810227"/>
          </a:xfrm>
        </p:spPr>
        <p:txBody>
          <a:bodyPr>
            <a:normAutofit/>
          </a:bodyPr>
          <a:lstStyle/>
          <a:p>
            <a:r>
              <a:rPr lang="en-US" dirty="0"/>
              <a:t>Sample Execution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A92733-EF10-69E9-CA95-16301B3EE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58" y="1146228"/>
            <a:ext cx="4610743" cy="3124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99BE43-CD16-75FA-2796-629F51D41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260" y="3356690"/>
            <a:ext cx="4932045" cy="33045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B3C761-4E88-A279-EEAB-54769136D0D0}"/>
              </a:ext>
            </a:extLst>
          </p:cNvPr>
          <p:cNvSpPr txBox="1"/>
          <p:nvPr/>
        </p:nvSpPr>
        <p:spPr>
          <a:xfrm>
            <a:off x="369558" y="755544"/>
            <a:ext cx="6105644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Normal Booking 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98A83-2782-9B48-D1E5-08B993390D04}"/>
              </a:ext>
            </a:extLst>
          </p:cNvPr>
          <p:cNvSpPr txBox="1"/>
          <p:nvPr/>
        </p:nvSpPr>
        <p:spPr>
          <a:xfrm>
            <a:off x="5390909" y="2943953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Waiting list Scenario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149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9B5B0F-2F99-88A9-C320-3C5A56DE3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36" y="851041"/>
            <a:ext cx="5389245" cy="3103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0109ED-A2EC-E301-F8C5-09ADFC606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756" y="4531792"/>
            <a:ext cx="5088255" cy="21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E4F004-A61A-B585-945E-B860B1763746}"/>
              </a:ext>
            </a:extLst>
          </p:cNvPr>
          <p:cNvSpPr txBox="1"/>
          <p:nvPr/>
        </p:nvSpPr>
        <p:spPr>
          <a:xfrm>
            <a:off x="4059822" y="4162460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Cancellation and Promotion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6EA87-F79D-DB83-6409-E9A27D51EA41}"/>
              </a:ext>
            </a:extLst>
          </p:cNvPr>
          <p:cNvSpPr txBox="1"/>
          <p:nvPr/>
        </p:nvSpPr>
        <p:spPr>
          <a:xfrm>
            <a:off x="310936" y="141808"/>
            <a:ext cx="6105644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 Full &amp; waiting list also full after that passenger trying to book the ticket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895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AA6D4F-03B3-F83A-F2AD-6A4CD6E9B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362" y="1938875"/>
            <a:ext cx="4689475" cy="41840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9004BF-665A-9F34-019D-4C5ABE4053DF}"/>
              </a:ext>
            </a:extLst>
          </p:cNvPr>
          <p:cNvSpPr txBox="1"/>
          <p:nvPr/>
        </p:nvSpPr>
        <p:spPr>
          <a:xfrm>
            <a:off x="934656" y="1105911"/>
            <a:ext cx="6105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Ticket Printing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32609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6A2A-8AA9-08A4-A86D-C49E8AFD8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Comparison with existing Systems</a:t>
            </a:r>
            <a:br>
              <a:rPr lang="en-US" dirty="0"/>
            </a:br>
            <a:br>
              <a:rPr lang="en-US" dirty="0"/>
            </a:b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Our System vs Real World IRCTC</a:t>
            </a:r>
            <a:endParaRPr lang="en-IN" sz="2400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D0A800-A936-BD03-EA6D-43DAC41345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9732080"/>
              </p:ext>
            </p:extLst>
          </p:nvPr>
        </p:nvGraphicFramePr>
        <p:xfrm>
          <a:off x="677334" y="2234974"/>
          <a:ext cx="859631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71828391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866640106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2104887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Our System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IRCTC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124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Seat Management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6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Waiting list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378866"/>
                  </a:ext>
                </a:extLst>
              </a:tr>
              <a:tr h="130351">
                <a:tc>
                  <a:txBody>
                    <a:bodyPr/>
                    <a:lstStyle/>
                    <a:p>
                      <a:r>
                        <a:rPr lang="en-US" dirty="0"/>
                        <a:t>Auto Promotion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92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PNR Generation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079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Payment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087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Multiple Trains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87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Database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1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GUI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719498"/>
                  </a:ext>
                </a:extLst>
              </a:tr>
            </a:tbl>
          </a:graphicData>
        </a:graphic>
      </p:graphicFrame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5B8BBE48-618E-BB3A-CFE5-4AE2DC8DB45E}"/>
              </a:ext>
            </a:extLst>
          </p:cNvPr>
          <p:cNvSpPr/>
          <p:nvPr/>
        </p:nvSpPr>
        <p:spPr>
          <a:xfrm>
            <a:off x="4132161" y="4016415"/>
            <a:ext cx="416689" cy="38196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AFE36B29-5752-5716-3EB7-87CC12C42DC4}"/>
              </a:ext>
            </a:extLst>
          </p:cNvPr>
          <p:cNvSpPr/>
          <p:nvPr/>
        </p:nvSpPr>
        <p:spPr>
          <a:xfrm>
            <a:off x="4132161" y="4375317"/>
            <a:ext cx="416689" cy="38196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20F35FE3-B0DC-5CA7-2119-9985065D9CF4}"/>
              </a:ext>
            </a:extLst>
          </p:cNvPr>
          <p:cNvSpPr/>
          <p:nvPr/>
        </p:nvSpPr>
        <p:spPr>
          <a:xfrm>
            <a:off x="4136017" y="4757455"/>
            <a:ext cx="416689" cy="38196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A0B4C63E-FC26-8D76-7EB8-40F8A4446356}"/>
              </a:ext>
            </a:extLst>
          </p:cNvPr>
          <p:cNvSpPr/>
          <p:nvPr/>
        </p:nvSpPr>
        <p:spPr>
          <a:xfrm>
            <a:off x="4089719" y="5230966"/>
            <a:ext cx="416689" cy="38196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2FEE17D9-D81A-84FF-25B1-DBB7DF0CA30A}"/>
              </a:ext>
            </a:extLst>
          </p:cNvPr>
          <p:cNvSpPr/>
          <p:nvPr/>
        </p:nvSpPr>
        <p:spPr>
          <a:xfrm rot="12966903">
            <a:off x="4177736" y="2505625"/>
            <a:ext cx="266218" cy="44273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Bent 10">
            <a:extLst>
              <a:ext uri="{FF2B5EF4-FFF2-40B4-BE49-F238E27FC236}">
                <a16:creationId xmlns:a16="http://schemas.microsoft.com/office/drawing/2014/main" id="{8E1D65B7-0BE5-095A-BD3E-B90F05F3EFF5}"/>
              </a:ext>
            </a:extLst>
          </p:cNvPr>
          <p:cNvSpPr/>
          <p:nvPr/>
        </p:nvSpPr>
        <p:spPr>
          <a:xfrm rot="12966903">
            <a:off x="4197024" y="3559917"/>
            <a:ext cx="266218" cy="44273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544092E4-077B-6DE3-DAE6-E6D3CBA06017}"/>
              </a:ext>
            </a:extLst>
          </p:cNvPr>
          <p:cNvSpPr/>
          <p:nvPr/>
        </p:nvSpPr>
        <p:spPr>
          <a:xfrm rot="12966903">
            <a:off x="4164956" y="3223168"/>
            <a:ext cx="266218" cy="44273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1CA9237F-0841-CE96-E3BF-B7DC15E14CBA}"/>
              </a:ext>
            </a:extLst>
          </p:cNvPr>
          <p:cNvSpPr/>
          <p:nvPr/>
        </p:nvSpPr>
        <p:spPr>
          <a:xfrm rot="12966903">
            <a:off x="4195947" y="2854455"/>
            <a:ext cx="229797" cy="44273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56DD00A8-3F10-A496-1854-266B550EEEFC}"/>
              </a:ext>
            </a:extLst>
          </p:cNvPr>
          <p:cNvSpPr/>
          <p:nvPr/>
        </p:nvSpPr>
        <p:spPr>
          <a:xfrm rot="12966903">
            <a:off x="6633498" y="2505625"/>
            <a:ext cx="266218" cy="44273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274DA3FF-45C2-1B8E-540F-5CC207984CBE}"/>
              </a:ext>
            </a:extLst>
          </p:cNvPr>
          <p:cNvSpPr/>
          <p:nvPr/>
        </p:nvSpPr>
        <p:spPr>
          <a:xfrm rot="12966903">
            <a:off x="6672080" y="3223169"/>
            <a:ext cx="266218" cy="44273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B37C23BA-378B-540C-1136-9BC32B1B4782}"/>
              </a:ext>
            </a:extLst>
          </p:cNvPr>
          <p:cNvSpPr/>
          <p:nvPr/>
        </p:nvSpPr>
        <p:spPr>
          <a:xfrm rot="12966903">
            <a:off x="6748925" y="3596122"/>
            <a:ext cx="266218" cy="44273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C4BD5149-E7E1-F8FD-179D-D054E338CFEA}"/>
              </a:ext>
            </a:extLst>
          </p:cNvPr>
          <p:cNvSpPr/>
          <p:nvPr/>
        </p:nvSpPr>
        <p:spPr>
          <a:xfrm rot="12966903">
            <a:off x="6745652" y="3992649"/>
            <a:ext cx="300292" cy="44273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FEDD9E01-05AD-3629-5CDA-AA29B6A2DB5E}"/>
              </a:ext>
            </a:extLst>
          </p:cNvPr>
          <p:cNvSpPr/>
          <p:nvPr/>
        </p:nvSpPr>
        <p:spPr>
          <a:xfrm rot="12966903">
            <a:off x="6803982" y="4374304"/>
            <a:ext cx="266218" cy="44273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708CE958-BA55-F340-C26F-008404772380}"/>
              </a:ext>
            </a:extLst>
          </p:cNvPr>
          <p:cNvSpPr/>
          <p:nvPr/>
        </p:nvSpPr>
        <p:spPr>
          <a:xfrm rot="12966903">
            <a:off x="6816446" y="4727071"/>
            <a:ext cx="266218" cy="44273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Arrow: Bent 19">
            <a:extLst>
              <a:ext uri="{FF2B5EF4-FFF2-40B4-BE49-F238E27FC236}">
                <a16:creationId xmlns:a16="http://schemas.microsoft.com/office/drawing/2014/main" id="{EE099BD8-CD88-AAB9-AE2D-7D694158A677}"/>
              </a:ext>
            </a:extLst>
          </p:cNvPr>
          <p:cNvSpPr/>
          <p:nvPr/>
        </p:nvSpPr>
        <p:spPr>
          <a:xfrm rot="12966903">
            <a:off x="6871504" y="5088805"/>
            <a:ext cx="266218" cy="44273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Arrow: Bent 20">
            <a:extLst>
              <a:ext uri="{FF2B5EF4-FFF2-40B4-BE49-F238E27FC236}">
                <a16:creationId xmlns:a16="http://schemas.microsoft.com/office/drawing/2014/main" id="{D51DE3AD-76BD-6628-0D35-1EE1962A33C5}"/>
              </a:ext>
            </a:extLst>
          </p:cNvPr>
          <p:cNvSpPr/>
          <p:nvPr/>
        </p:nvSpPr>
        <p:spPr>
          <a:xfrm rot="12966903">
            <a:off x="6668942" y="2905026"/>
            <a:ext cx="266218" cy="44273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030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DFC1-535E-CA05-0016-4786B095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88" y="1315656"/>
            <a:ext cx="8596668" cy="1320800"/>
          </a:xfrm>
        </p:spPr>
        <p:txBody>
          <a:bodyPr/>
          <a:lstStyle/>
          <a:p>
            <a:r>
              <a:rPr lang="en-US" u="sng" dirty="0"/>
              <a:t>Learning Outcomes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9ED4B-15A9-CFF4-FDFA-4B959D85F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Through this project, I gained hands on experience in:</a:t>
            </a:r>
            <a:endParaRPr lang="en-IN" sz="2400" dirty="0"/>
          </a:p>
          <a:p>
            <a:pPr lvl="0"/>
            <a:r>
              <a:rPr lang="en-US" dirty="0"/>
              <a:t>Designing scalable data structures</a:t>
            </a:r>
            <a:endParaRPr lang="en-IN" dirty="0"/>
          </a:p>
          <a:p>
            <a:pPr lvl="0"/>
            <a:r>
              <a:rPr lang="en-US" dirty="0"/>
              <a:t>Managing memory efficient with fixed size arrays</a:t>
            </a:r>
            <a:endParaRPr lang="en-IN" dirty="0"/>
          </a:p>
          <a:p>
            <a:pPr lvl="0"/>
            <a:r>
              <a:rPr lang="en-US" dirty="0"/>
              <a:t>Handling user input with various C functions</a:t>
            </a:r>
            <a:endParaRPr lang="en-IN" dirty="0"/>
          </a:p>
          <a:p>
            <a:pPr lvl="0"/>
            <a:r>
              <a:rPr lang="en-US" dirty="0"/>
              <a:t>Debugging buffer related issues</a:t>
            </a:r>
            <a:endParaRPr lang="en-IN" dirty="0"/>
          </a:p>
          <a:p>
            <a:pPr lvl="0"/>
            <a:r>
              <a:rPr lang="en-US" dirty="0"/>
              <a:t>Writing modular , maintained code</a:t>
            </a:r>
            <a:endParaRPr lang="en-IN" dirty="0"/>
          </a:p>
          <a:p>
            <a:pPr lvl="0"/>
            <a:r>
              <a:rPr lang="en-US" dirty="0"/>
              <a:t>Testing and validation complex logic flows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75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6C2F6-476A-6EBF-1526-E17DCC5E1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42" y="1223058"/>
            <a:ext cx="8596668" cy="1320800"/>
          </a:xfrm>
        </p:spPr>
        <p:txBody>
          <a:bodyPr/>
          <a:lstStyle/>
          <a:p>
            <a:r>
              <a:rPr lang="en-US" dirty="0" err="1"/>
              <a:t>Refrences</a:t>
            </a:r>
            <a:r>
              <a:rPr lang="en-US" dirty="0"/>
              <a:t> &amp; Resources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07D10-5BC0-ECF6-B901-8D9F21966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 Programming Language (2</a:t>
            </a:r>
            <a:r>
              <a:rPr lang="en-US" baseline="30000" dirty="0"/>
              <a:t>nd</a:t>
            </a:r>
            <a:r>
              <a:rPr lang="en-US" dirty="0"/>
              <a:t> Edition)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     Brian </a:t>
            </a:r>
            <a:r>
              <a:rPr lang="en-US" dirty="0" err="1"/>
              <a:t>W.Kernighan</a:t>
            </a:r>
            <a:r>
              <a:rPr lang="en-US" dirty="0"/>
              <a:t> and Dennis M. Ritchie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     Prentice Hall,1988</a:t>
            </a:r>
            <a:endParaRPr lang="en-IN" dirty="0"/>
          </a:p>
          <a:p>
            <a:pPr lvl="0"/>
            <a:r>
              <a:rPr lang="en-US" dirty="0" err="1"/>
              <a:t>GeeksforGeeks</a:t>
            </a:r>
            <a:r>
              <a:rPr lang="en-US" dirty="0"/>
              <a:t>  - C Programming</a:t>
            </a:r>
            <a:endParaRPr lang="en-IN" dirty="0"/>
          </a:p>
          <a:p>
            <a:pPr marL="0" indent="0">
              <a:buNone/>
            </a:pPr>
            <a:r>
              <a:rPr lang="en-US" u="sng" dirty="0">
                <a:hlinkClick r:id="rId2"/>
              </a:rPr>
              <a:t>    https://www.geeksforgeeks.org/c/c-programming-language/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US" dirty="0"/>
              <a:t> </a:t>
            </a:r>
            <a:endParaRPr lang="en-IN" dirty="0"/>
          </a:p>
          <a:p>
            <a:pPr lvl="0"/>
            <a:r>
              <a:rPr lang="en-US" dirty="0"/>
              <a:t>Indian Railways Reservation System (for domain understanding)  </a:t>
            </a:r>
            <a:r>
              <a:rPr lang="en-US" u="sng" dirty="0">
                <a:hlinkClick r:id="rId3"/>
              </a:rPr>
              <a:t>https://www.irctc.co.in/nget/train-search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783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29E6-427B-1F1E-14A4-8C4F3FF51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52982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A8463-B679-0F9A-3649-46AE86D2B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159" y="1562582"/>
            <a:ext cx="8706843" cy="4478781"/>
          </a:xfrm>
        </p:spPr>
        <p:txBody>
          <a:bodyPr/>
          <a:lstStyle/>
          <a:p>
            <a:r>
              <a:rPr lang="en-US" dirty="0"/>
              <a:t>Project Summary</a:t>
            </a:r>
          </a:p>
          <a:p>
            <a:pPr marL="0" indent="0">
              <a:buNone/>
            </a:pPr>
            <a:r>
              <a:rPr lang="en-US" dirty="0"/>
              <a:t>successfully developed a fully functional train reservation system         demonstrating:</a:t>
            </a:r>
          </a:p>
          <a:p>
            <a:pPr marL="0" indent="0">
              <a:buNone/>
            </a:pPr>
            <a:r>
              <a:rPr lang="en-US" dirty="0"/>
              <a:t>     - Core C programming concepts</a:t>
            </a:r>
          </a:p>
          <a:p>
            <a:pPr>
              <a:buFontTx/>
              <a:buChar char="-"/>
            </a:pPr>
            <a:r>
              <a:rPr lang="en-IN" dirty="0"/>
              <a:t>- Data structure implementation</a:t>
            </a:r>
          </a:p>
          <a:p>
            <a:pPr>
              <a:buFontTx/>
              <a:buChar char="-"/>
            </a:pPr>
            <a:r>
              <a:rPr lang="en-IN" dirty="0"/>
              <a:t>- Algorithm design</a:t>
            </a:r>
          </a:p>
          <a:p>
            <a:pPr>
              <a:buFontTx/>
              <a:buChar char="-"/>
            </a:pPr>
            <a:r>
              <a:rPr lang="en-IN" dirty="0"/>
              <a:t>- Real World problem Solving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u="sng" dirty="0"/>
              <a:t>Personal Growth </a:t>
            </a:r>
          </a:p>
          <a:p>
            <a:pPr marL="0" indent="0">
              <a:buNone/>
            </a:pPr>
            <a:r>
              <a:rPr lang="en-US" dirty="0"/>
              <a:t>   Enhanced understanding of :</a:t>
            </a:r>
          </a:p>
          <a:p>
            <a:pPr marL="0" indent="0">
              <a:buNone/>
            </a:pPr>
            <a:r>
              <a:rPr lang="en-US" dirty="0"/>
              <a:t>    - String operation in C </a:t>
            </a:r>
          </a:p>
          <a:p>
            <a:pPr marL="0" indent="0">
              <a:buNone/>
            </a:pPr>
            <a:r>
              <a:rPr lang="en-US" dirty="0"/>
              <a:t>    - Modular design principles</a:t>
            </a:r>
          </a:p>
          <a:p>
            <a:pPr marL="0" indent="0">
              <a:buNone/>
            </a:pPr>
            <a:endParaRPr lang="en-IN" u="sng" dirty="0"/>
          </a:p>
          <a:p>
            <a:pPr>
              <a:buFontTx/>
              <a:buChar char="-"/>
            </a:pPr>
            <a:endParaRPr lang="en-IN" dirty="0"/>
          </a:p>
          <a:p>
            <a:pPr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640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823047-C481-254F-C7AC-4577A9C4FDE1}"/>
              </a:ext>
            </a:extLst>
          </p:cNvPr>
          <p:cNvSpPr txBox="1"/>
          <p:nvPr/>
        </p:nvSpPr>
        <p:spPr>
          <a:xfrm>
            <a:off x="1377386" y="1689904"/>
            <a:ext cx="82411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accent1"/>
                </a:solidFill>
              </a:rPr>
              <a:t>Thank You</a:t>
            </a:r>
            <a:endParaRPr lang="en-IN" sz="6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7227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201</TotalTime>
  <Words>982</Words>
  <Application>Microsoft Office PowerPoint</Application>
  <PresentationFormat>Widescreen</PresentationFormat>
  <Paragraphs>206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Consolas</vt:lpstr>
      <vt:lpstr>Times New Roman</vt:lpstr>
      <vt:lpstr>Trebuchet MS</vt:lpstr>
      <vt:lpstr>Wingdings 3</vt:lpstr>
      <vt:lpstr>Facet</vt:lpstr>
      <vt:lpstr>Microsoft Word Document</vt:lpstr>
      <vt:lpstr>   TRAIN TICKET RESERVATION SYSTEM</vt:lpstr>
      <vt:lpstr>Project Overview</vt:lpstr>
      <vt:lpstr>Key Features: </vt:lpstr>
      <vt:lpstr>PROBLEM DEFINITION </vt:lpstr>
      <vt:lpstr>SYSTEM DESIGN </vt:lpstr>
      <vt:lpstr>PowerPoint Presentation</vt:lpstr>
      <vt:lpstr>PowerPoint Presentation</vt:lpstr>
      <vt:lpstr> Algorithms</vt:lpstr>
      <vt:lpstr>PowerPoint Presentation</vt:lpstr>
      <vt:lpstr>.Functions and its purpose</vt:lpstr>
      <vt:lpstr>Technical Challenges &amp; Solution</vt:lpstr>
      <vt:lpstr>.</vt:lpstr>
      <vt:lpstr>Testing &amp; Validation</vt:lpstr>
      <vt:lpstr>Sample Execution</vt:lpstr>
      <vt:lpstr>PowerPoint Presentation</vt:lpstr>
      <vt:lpstr>PowerPoint Presentation</vt:lpstr>
      <vt:lpstr>Comparison with existing Systems  Our System vs Real World IRCTC</vt:lpstr>
      <vt:lpstr>Learning Outcomes  </vt:lpstr>
      <vt:lpstr>Refrences &amp; Resources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SHORYA VERMA</dc:creator>
  <cp:lastModifiedBy>SHORYA VERMA</cp:lastModifiedBy>
  <cp:revision>1</cp:revision>
  <dcterms:created xsi:type="dcterms:W3CDTF">2025-12-01T18:09:52Z</dcterms:created>
  <dcterms:modified xsi:type="dcterms:W3CDTF">2025-12-01T21:31:23Z</dcterms:modified>
</cp:coreProperties>
</file>